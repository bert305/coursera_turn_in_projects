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SpaceX Falcon 9 Landing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Capstone Project</a:t>
            </a:r>
          </a:p>
          <a:p>
            <a:r>
              <a:t>IBM Data Science Professional Certificate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Comprehensive data science project analyzing SpaceX Falcon 9 launches</a:t>
            </a:r>
          </a:p>
          <a:p>
            <a:pPr>
              <a:defRPr sz="1800"/>
            </a:pPr>
            <a:r>
              <a:t>Objective: Predict first stage landing success to estimate launch costs</a:t>
            </a:r>
          </a:p>
          <a:p>
            <a:pPr>
              <a:defRPr sz="1800"/>
            </a:pPr>
            <a:r>
              <a:t>Multi-phase approach: Data Collection → Wrangling → Analysis → Visualization → Machine Learning</a:t>
            </a:r>
          </a:p>
          <a:p>
            <a:pPr>
              <a:defRPr sz="1800"/>
            </a:pPr>
            <a:r>
              <a:t>Key Finding: 83.3% prediction accuracy achieved across multiple ML models</a:t>
            </a:r>
          </a:p>
          <a:p>
            <a:pPr>
              <a:defRPr sz="1800"/>
            </a:pPr>
            <a:r>
              <a:t>Business Impact: Enables competitive bidding against SpaceX launches</a:t>
            </a:r>
          </a:p>
          <a:p>
            <a:pPr>
              <a:defRPr sz="1800"/>
            </a:pPr>
            <a:r>
              <a:t>Technologies: Python, SQL, Pandas, Plotly, Dash, Machine Learning (Scikit-learn)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SpaceX revolutionized space industry with reusable rocket technology</a:t>
            </a:r>
          </a:p>
          <a:p>
            <a:pPr>
              <a:defRPr sz="1800"/>
            </a:pPr>
            <a:r>
              <a:t>Falcon 9 launch cost: $62M vs competitors at $165M+</a:t>
            </a:r>
          </a:p>
          <a:p>
            <a:pPr>
              <a:defRPr sz="1800"/>
            </a:pPr>
            <a:r>
              <a:t>Cost savings primarily from first stage reusability</a:t>
            </a:r>
          </a:p>
          <a:p>
            <a:pPr>
              <a:defRPr sz="1800"/>
            </a:pPr>
            <a:r>
              <a:t>Project Goal: Build predictive model for first stage landing success</a:t>
            </a:r>
          </a:p>
          <a:p>
            <a:pPr>
              <a:defRPr sz="1800"/>
            </a:pPr>
            <a:r>
              <a:t>Dataset: Historical SpaceX launch data (2010-present)</a:t>
            </a:r>
          </a:p>
          <a:p>
            <a:pPr>
              <a:defRPr sz="1800"/>
            </a:pPr>
            <a:r>
              <a:t>7 interconnected analysis modules covering full data science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1: Data Collection via SpaceX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Utilized SpaceX REST API to collect launch data</a:t>
            </a:r>
          </a:p>
          <a:p>
            <a:pPr>
              <a:defRPr sz="1800"/>
            </a:pPr>
            <a:r>
              <a:t>Extracted mission details, rocket specifications, payload information</a:t>
            </a:r>
          </a:p>
          <a:p>
            <a:pPr>
              <a:defRPr sz="1800"/>
            </a:pPr>
            <a:r>
              <a:t>Key data points: Flight number, launch date, booster version, payload mass</a:t>
            </a:r>
          </a:p>
          <a:p>
            <a:pPr>
              <a:defRPr sz="1800"/>
            </a:pPr>
            <a:r>
              <a:t>Retrieved launch outcomes and landing pad information</a:t>
            </a:r>
          </a:p>
          <a:p>
            <a:pPr>
              <a:defRPr sz="1800"/>
            </a:pPr>
            <a:r>
              <a:t>Created structured dataset for downstream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1: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API endpoints: rockets, launches, launchpads, payloads</a:t>
            </a:r>
          </a:p>
          <a:p>
            <a:pPr>
              <a:defRPr sz="1800"/>
            </a:pPr>
            <a:r>
              <a:t>Data transformation from JSON to Pandas DataFrame</a:t>
            </a:r>
          </a:p>
          <a:p>
            <a:pPr>
              <a:defRPr sz="1800"/>
            </a:pPr>
            <a:r>
              <a:t>Handled nested JSON structures for complex relationships</a:t>
            </a:r>
          </a:p>
          <a:p>
            <a:pPr>
              <a:defRPr sz="1800"/>
            </a:pPr>
            <a:r>
              <a:t>Initial dataset: 90+ launches with 17 features</a:t>
            </a:r>
          </a:p>
          <a:p>
            <a:pPr>
              <a:defRPr sz="1800"/>
            </a:pPr>
            <a:r>
              <a:t>Foundation for all subsequent analysis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2: Web Scraping Supplement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Scraped additional data from Wikipedia and public sources</a:t>
            </a:r>
          </a:p>
          <a:p>
            <a:pPr>
              <a:defRPr sz="1800"/>
            </a:pPr>
            <a:r>
              <a:t>Complemented API data with historical context</a:t>
            </a:r>
          </a:p>
          <a:p>
            <a:pPr>
              <a:defRPr sz="1800"/>
            </a:pPr>
            <a:r>
              <a:t>Used BeautifulSoup for HTML parsing</a:t>
            </a:r>
          </a:p>
          <a:p>
            <a:pPr>
              <a:defRPr sz="1800"/>
            </a:pPr>
            <a:r>
              <a:t>Extracted launch site details and mission descriptions</a:t>
            </a:r>
          </a:p>
          <a:p>
            <a:pPr>
              <a:defRPr sz="1800"/>
            </a:pPr>
            <a:r>
              <a:t>Enhanced dataset completeness and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2: Scraping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Targeted Falcon 9 launch records tables</a:t>
            </a:r>
          </a:p>
          <a:p>
            <a:pPr>
              <a:defRPr sz="1800"/>
            </a:pPr>
            <a:r>
              <a:t>Parsed HTML tables into structured format</a:t>
            </a:r>
          </a:p>
          <a:p>
            <a:pPr>
              <a:defRPr sz="1800"/>
            </a:pPr>
            <a:r>
              <a:t>Validated data against API sources</a:t>
            </a:r>
          </a:p>
          <a:p>
            <a:pPr>
              <a:defRPr sz="1800"/>
            </a:pPr>
            <a:r>
              <a:t>Merged with existing dataset for comprehensive view</a:t>
            </a:r>
          </a:p>
          <a:p>
            <a:pPr>
              <a:defRPr sz="1800"/>
            </a:pPr>
            <a:r>
              <a:t>Ensured data quality through cross-referencing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3: Data Wrangling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Identified and handled missing values</a:t>
            </a:r>
          </a:p>
          <a:p>
            <a:pPr>
              <a:defRPr sz="1800"/>
            </a:pPr>
            <a:r>
              <a:t>LandingPad: 28.57% missing values addressed</a:t>
            </a:r>
          </a:p>
          <a:p>
            <a:pPr>
              <a:defRPr sz="1800"/>
            </a:pPr>
            <a:r>
              <a:t>PayloadMass: 0% missing - excellent data quality</a:t>
            </a:r>
          </a:p>
          <a:p>
            <a:pPr>
              <a:defRPr sz="1800"/>
            </a:pPr>
            <a:r>
              <a:t>Created binary classification labels for landing outcome</a:t>
            </a:r>
          </a:p>
          <a:p>
            <a:pPr>
              <a:defRPr sz="1800"/>
            </a:pPr>
            <a:r>
              <a:t>Standardized categorical variables (Orbit, LaunchSite, etc.)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3: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Converted mission outcomes to binary success/failure</a:t>
            </a:r>
          </a:p>
          <a:p>
            <a:pPr>
              <a:defRPr sz="1800"/>
            </a:pPr>
            <a:r>
              <a:t>Created one-hot encoded features for categorical variables</a:t>
            </a:r>
          </a:p>
          <a:p>
            <a:pPr>
              <a:defRPr sz="1800"/>
            </a:pPr>
            <a:r>
              <a:t>Engineered features: Flight history, reuse count, block version</a:t>
            </a:r>
          </a:p>
          <a:p>
            <a:pPr>
              <a:defRPr sz="1800"/>
            </a:pPr>
            <a:r>
              <a:t>Handled boolean features: GridFins, Reused, Legs</a:t>
            </a:r>
          </a:p>
          <a:p>
            <a:pPr>
              <a:defRPr sz="1800"/>
            </a:pPr>
            <a:r>
              <a:t>Final dataset: 90 records with 83 engineered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4: Exploratory Data Analysis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Utilized SQLite database for structured queries</a:t>
            </a:r>
          </a:p>
          <a:p>
            <a:pPr>
              <a:defRPr sz="1800"/>
            </a:pPr>
            <a:r>
              <a:t>Analyzed launch patterns across different orbits</a:t>
            </a:r>
          </a:p>
          <a:p>
            <a:pPr>
              <a:defRPr sz="1800"/>
            </a:pPr>
            <a:r>
              <a:t>Key orbits: GTO (27 launches), ISS (21), VLEO (14)</a:t>
            </a:r>
          </a:p>
          <a:p>
            <a:pPr>
              <a:defRPr sz="1800"/>
            </a:pPr>
            <a:r>
              <a:t>Investigated success rates by launch site</a:t>
            </a:r>
          </a:p>
          <a:p>
            <a:pPr>
              <a:defRPr sz="1800"/>
            </a:pPr>
            <a:r>
              <a:t>Examined payload mass relationships with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4: SQL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Most successful launch site: KSC LC-39A</a:t>
            </a:r>
          </a:p>
          <a:p>
            <a:pPr>
              <a:defRPr sz="1800"/>
            </a:pPr>
            <a:r>
              <a:t>Booster reuse correlation with landing success</a:t>
            </a:r>
          </a:p>
          <a:p>
            <a:pPr>
              <a:defRPr sz="1800"/>
            </a:pPr>
            <a:r>
              <a:t>Temporal trends: Success rates improved over time</a:t>
            </a:r>
          </a:p>
          <a:p>
            <a:pPr>
              <a:defRPr sz="1800"/>
            </a:pPr>
            <a:r>
              <a:t>Payload mass range: 500kg to 15,600kg</a:t>
            </a:r>
          </a:p>
          <a:p>
            <a:pPr>
              <a:defRPr sz="1800"/>
            </a:pPr>
            <a:r>
              <a:t>Mission complexity vs success rate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5: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Created comprehensive visualizations using Matplotlib &amp; Seaborn</a:t>
            </a:r>
          </a:p>
          <a:p>
            <a:pPr>
              <a:defRPr sz="1800"/>
            </a:pPr>
            <a:r>
              <a:t>Flight number vs payload mass scatter plots</a:t>
            </a:r>
          </a:p>
          <a:p>
            <a:pPr>
              <a:defRPr sz="1800"/>
            </a:pPr>
            <a:r>
              <a:t>Success rate trends over time</a:t>
            </a:r>
          </a:p>
          <a:p>
            <a:pPr>
              <a:defRPr sz="1800"/>
            </a:pPr>
            <a:r>
              <a:t>Launch site performance comparisons</a:t>
            </a:r>
          </a:p>
          <a:p>
            <a:pPr>
              <a:defRPr sz="1800"/>
            </a:pPr>
            <a:r>
              <a:t>Correlation heatmaps for feature relationships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5: 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Clear improvement in success rates post-2017</a:t>
            </a:r>
          </a:p>
          <a:p>
            <a:pPr>
              <a:defRPr sz="1800"/>
            </a:pPr>
            <a:r>
              <a:t>CCAFS SLC-40 most frequently used launch site</a:t>
            </a:r>
          </a:p>
          <a:p>
            <a:pPr>
              <a:defRPr sz="1800"/>
            </a:pPr>
            <a:r>
              <a:t>Payload mass not strongly correlated with landing success</a:t>
            </a:r>
          </a:p>
          <a:p>
            <a:pPr>
              <a:defRPr sz="1800"/>
            </a:pPr>
            <a:r>
              <a:t>GridFins and Legs usage increased over time</a:t>
            </a:r>
          </a:p>
          <a:p>
            <a:pPr>
              <a:defRPr sz="1800"/>
            </a:pPr>
            <a:r>
              <a:t>Block 5 boosters showed highest success rates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6: Geospatial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Mapped launch sites using Folium interactive maps</a:t>
            </a:r>
          </a:p>
          <a:p>
            <a:pPr>
              <a:defRPr sz="1800"/>
            </a:pPr>
            <a:r>
              <a:t>Launch sites: CCAFS SLC-40, VAFB SLC-4E, KSC LC-39A</a:t>
            </a:r>
          </a:p>
          <a:p>
            <a:pPr>
              <a:defRPr sz="1800"/>
            </a:pPr>
            <a:r>
              <a:t>Analyzed proximity to coastlines for safety</a:t>
            </a:r>
          </a:p>
          <a:p>
            <a:pPr>
              <a:defRPr sz="1800"/>
            </a:pPr>
            <a:r>
              <a:t>Visualized success/failure locations on map</a:t>
            </a:r>
          </a:p>
          <a:p>
            <a:pPr>
              <a:defRPr sz="1800"/>
            </a:pPr>
            <a:r>
              <a:t>Distance calculations between launch sites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6: Location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Florida sites (CCAFS, KSC) used for eastward launches</a:t>
            </a:r>
          </a:p>
          <a:p>
            <a:pPr>
              <a:defRPr sz="1800"/>
            </a:pPr>
            <a:r>
              <a:t>California site (VAFB) for polar orbits</a:t>
            </a:r>
          </a:p>
          <a:p>
            <a:pPr>
              <a:defRPr sz="1800"/>
            </a:pPr>
            <a:r>
              <a:t>Launch site selection based on orbital requirements</a:t>
            </a:r>
          </a:p>
          <a:p>
            <a:pPr>
              <a:defRPr sz="1800"/>
            </a:pPr>
            <a:r>
              <a:t>Geographic advantages: Ocean proximity for landing zones</a:t>
            </a:r>
          </a:p>
          <a:p>
            <a:pPr>
              <a:defRPr sz="1800"/>
            </a:pPr>
            <a:r>
              <a:t>Weather patterns influence success rates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7: Interactive Dash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Built real-time dashboard using Plotly Dash</a:t>
            </a:r>
          </a:p>
          <a:p>
            <a:pPr>
              <a:defRPr sz="1800"/>
            </a:pPr>
            <a:r>
              <a:t>Interactive dropdowns for launch site filtering</a:t>
            </a:r>
          </a:p>
          <a:p>
            <a:pPr>
              <a:defRPr sz="1800"/>
            </a:pPr>
            <a:r>
              <a:t>Payload range slider for dynamic filtering</a:t>
            </a:r>
          </a:p>
          <a:p>
            <a:pPr>
              <a:defRPr sz="1800"/>
            </a:pPr>
            <a:r>
              <a:t>Success rate pie charts by launch site</a:t>
            </a:r>
          </a:p>
          <a:p>
            <a:pPr>
              <a:defRPr sz="1800"/>
            </a:pPr>
            <a:r>
              <a:t>Scatter plots: Payload mass vs success correlation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7: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Real-time data filtering and visualization</a:t>
            </a:r>
          </a:p>
          <a:p>
            <a:pPr>
              <a:defRPr sz="1800"/>
            </a:pPr>
            <a:r>
              <a:t>User-friendly interface for stakeholder exploration</a:t>
            </a:r>
          </a:p>
          <a:p>
            <a:pPr>
              <a:defRPr sz="1800"/>
            </a:pPr>
            <a:r>
              <a:t>Responsive design for multiple screen sizes</a:t>
            </a:r>
          </a:p>
          <a:p>
            <a:pPr>
              <a:defRPr sz="1800"/>
            </a:pPr>
            <a:r>
              <a:t>Dynamic updates based on user selections</a:t>
            </a:r>
          </a:p>
          <a:p>
            <a:pPr>
              <a:defRPr sz="1800"/>
            </a:pPr>
            <a:r>
              <a:t>Export capabilities for reports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8: 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Trained 4 classification models: Logistic Regression, SVM, Decision Tree, KNN</a:t>
            </a:r>
          </a:p>
          <a:p>
            <a:pPr>
              <a:defRPr sz="1800"/>
            </a:pPr>
            <a:r>
              <a:t>Dataset split: 80% training (72 samples), 20% test (18 samples)</a:t>
            </a:r>
          </a:p>
          <a:p>
            <a:pPr>
              <a:defRPr sz="1800"/>
            </a:pPr>
            <a:r>
              <a:t>Feature standardization using StandardScaler</a:t>
            </a:r>
          </a:p>
          <a:p>
            <a:pPr>
              <a:defRPr sz="1800"/>
            </a:pPr>
            <a:r>
              <a:t>Hyperparameter tuning with GridSearchCV (10-fold CV)</a:t>
            </a:r>
          </a:p>
          <a:p>
            <a:pPr>
              <a:defRPr sz="1800"/>
            </a:pPr>
            <a:r>
              <a:t>Model evaluation using accuracy and confusion matrices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8: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Best Model Results (Test Accuracy): 83.3% across all models</a:t>
            </a:r>
          </a:p>
          <a:p>
            <a:pPr>
              <a:defRPr sz="1800"/>
            </a:pPr>
            <a:r>
              <a:t>Logistic Regression: C=0.01, L2 penalty</a:t>
            </a:r>
          </a:p>
          <a:p>
            <a:pPr>
              <a:defRPr sz="1800"/>
            </a:pPr>
            <a:r>
              <a:t>SVM: RBF kernel, C=10, gamma=0.001</a:t>
            </a:r>
          </a:p>
          <a:p>
            <a:pPr>
              <a:defRPr sz="1800"/>
            </a:pPr>
            <a:r>
              <a:t>Decision Tree: Gini criterion, max_depth=12</a:t>
            </a:r>
          </a:p>
          <a:p>
            <a:pPr>
              <a:defRPr sz="1800"/>
            </a:pPr>
            <a:r>
              <a:t>KNN: n_neighbors=9, algorithm=brute</a:t>
            </a:r>
          </a:p>
          <a:p>
            <a:pPr>
              <a:defRPr sz="1800"/>
            </a:pPr>
            <a:r>
              <a:t>All models achieved identical test accuracy: 83.33%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Successfully developed end-to-end data science pipeline</a:t>
            </a:r>
          </a:p>
          <a:p>
            <a:pPr>
              <a:defRPr sz="1800"/>
            </a:pPr>
            <a:r>
              <a:t>83.3% prediction accuracy demonstrates model reliability</a:t>
            </a:r>
          </a:p>
          <a:p>
            <a:pPr>
              <a:defRPr sz="1800"/>
            </a:pPr>
            <a:r>
              <a:t>All 4 ML models performed equally well on test data</a:t>
            </a:r>
          </a:p>
          <a:p>
            <a:pPr>
              <a:defRPr sz="1800"/>
            </a:pPr>
            <a:r>
              <a:t>Data quality and feature engineering were critical success factors</a:t>
            </a:r>
          </a:p>
          <a:p>
            <a:pPr>
              <a:defRPr sz="1800"/>
            </a:pPr>
            <a:r>
              <a:t>Business value: Competitive intelligence for launch cost estimation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Collect more data to increase model robustness (currently 90 samples)</a:t>
            </a:r>
          </a:p>
          <a:p>
            <a:pPr>
              <a:defRPr sz="1800"/>
            </a:pPr>
            <a:r>
              <a:t>Incorporate additional features: Weather, technical specifications</a:t>
            </a:r>
          </a:p>
          <a:p>
            <a:pPr>
              <a:defRPr sz="1800"/>
            </a:pPr>
            <a:r>
              <a:t>Explore ensemble methods for potentially higher accuracy</a:t>
            </a:r>
          </a:p>
          <a:p>
            <a:pPr>
              <a:defRPr sz="1800"/>
            </a:pPr>
            <a:r>
              <a:t>Deploy model as API for real-time predictions</a:t>
            </a:r>
          </a:p>
          <a:p>
            <a:pPr>
              <a:defRPr sz="1800"/>
            </a:pPr>
            <a:r>
              <a:t>Continuous monitoring and model retraining as new launches occur</a:t>
            </a:r>
          </a:p>
          <a:p>
            <a:pPr>
              <a:defRPr sz="1800"/>
            </a:pPr>
            <a:r>
              <a:t>Expand analysis to include Falcon Heavy and Starship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/>
          <a:p>
            <a:r>
              <a:t>IBM Data Science Professional Certificate</a:t>
            </a:r>
          </a:p>
          <a:p>
            <a:r>
              <a:t>Coursera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